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LB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HGB</c:v>
                </c:pt>
                <c:pt idx="2">
                  <c:v>MLP</c:v>
                </c:pt>
                <c:pt idx="3">
                  <c:v>LogReg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0.73470000000000002</c:v>
                </c:pt>
                <c:pt idx="1">
                  <c:v>0.67349999999999999</c:v>
                </c:pt>
                <c:pt idx="2">
                  <c:v>0.65869999999999995</c:v>
                </c:pt>
                <c:pt idx="3">
                  <c:v>0.61180000000000001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2-FF4D-A52F-A0A64B17B2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Benign FPR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LB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HGB</c:v>
                </c:pt>
                <c:pt idx="2">
                  <c:v>MLP</c:v>
                </c:pt>
                <c:pt idx="3">
                  <c:v>LogReg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2.5700000000000001E-2</c:v>
                </c:pt>
                <c:pt idx="1">
                  <c:v>0.30330000000000001</c:v>
                </c:pt>
                <c:pt idx="2">
                  <c:v>0.37340000000000001</c:v>
                </c:pt>
                <c:pt idx="3">
                  <c:v>0.53249999999999997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92-FF4D-A52F-A0A64B17B2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55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1097280"/>
            <a:ext cx="1005840" cy="18288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966960" y="1280160"/>
            <a:ext cx="457200" cy="82296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966960" y="1280160"/>
            <a:ext cx="1005840" cy="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424160" y="2103120"/>
            <a:ext cx="0" cy="36576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424160" y="2103120"/>
            <a:ext cx="731520" cy="54864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418320" y="2468880"/>
            <a:ext cx="0" cy="82296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155680" y="2651760"/>
            <a:ext cx="91440" cy="109728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778240" y="3291840"/>
            <a:ext cx="1280160" cy="18288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0058400" y="3474720"/>
            <a:ext cx="1188720" cy="27432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0058400" y="3474720"/>
            <a:ext cx="0" cy="73152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9601200" y="4206240"/>
            <a:ext cx="1097280" cy="54864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1247120" y="3749040"/>
            <a:ext cx="0" cy="100584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0698480" y="4754880"/>
            <a:ext cx="0" cy="27432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0698480" y="4754880"/>
            <a:ext cx="274320" cy="73152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052560" y="5029200"/>
            <a:ext cx="822960" cy="73152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875520" y="5760720"/>
            <a:ext cx="1097280" cy="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972800" y="5486400"/>
            <a:ext cx="365760" cy="731520"/>
          </a:xfrm>
          <a:prstGeom prst="line">
            <a:avLst/>
          </a:prstGeom>
          <a:noFill/>
          <a:ln w="63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878824" y="101498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884664" y="119786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0890504" y="92354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0341864" y="202082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9336024" y="238658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1073384" y="256946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8695944" y="320954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976104" y="339242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1164824" y="366674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9518904" y="412394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0616184" y="467258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970264" y="494690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0890504" y="540410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9793224" y="567842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1256264" y="613562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0305288" y="1984248"/>
            <a:ext cx="237744" cy="237744"/>
          </a:xfrm>
          <a:prstGeom prst="ellipse">
            <a:avLst/>
          </a:prstGeom>
          <a:solidFill>
            <a:srgbClr val="FBBF24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CYBERSECURITY  ·  MACHINE LEARNING  ·  MONITORING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17373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</a:t>
            </a:r>
            <a:endParaRPr lang="en-US" sz="7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200" dirty="0"/>
          </a:p>
        </p:txBody>
      </p:sp>
      <p:sp>
        <p:nvSpPr>
          <p:cNvPr id="37" name="Text 35"/>
          <p:cNvSpPr/>
          <p:nvPr/>
        </p:nvSpPr>
        <p:spPr>
          <a:xfrm>
            <a:off x="64008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classification &amp; </a:t>
            </a: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drift monitoring 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CICIoT2023 dataset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40080" y="539496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822960" y="5376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5669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Azzi   ·   Maria Bouchi   ·   Lynn Mechreck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intrusion detection ≠ ordinary classification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hits 95% accuracy can still be useless in security. Most traffic is benign, attack classes are heavily imbalanced, and every false alarm costs operator trust.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optimise and report: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F1, not raw accuracy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on minority attacks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on benign traffic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over time once deployed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486400" cy="1234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035040" y="1828800"/>
            <a:ext cx="73152" cy="12344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09360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classes, 69× ratio between majority &amp; minority.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3246120"/>
            <a:ext cx="5486400" cy="1234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035040" y="3246120"/>
            <a:ext cx="73152" cy="12344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309360" y="3410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asymmetry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3840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rare attack ≠ flagging a benign flow.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4663440"/>
            <a:ext cx="5486400" cy="1234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35040" y="4663440"/>
            <a:ext cx="73152" cy="12344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09360" y="4828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5257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patterns change — yesterday's model may not recognise today's attack.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1  ·  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IoT security benchmark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subset of CICIoT2023 — a large benchmark of benign IoT traffic and multiple attack captures. After duplicate removal we have one clean, labelled flow dataset to build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3127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1.08M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FLOWS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0712" y="292608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39312" y="3127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39312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2784" y="292608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501384" y="3127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01384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34856" y="292608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363456" y="3127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190K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63456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CLASSES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31520" y="5239512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60120" y="5120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BenignTraffic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1568" y="507492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584448" y="5239512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813048" y="5120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DDoS-ICMP_Flood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4496" y="507492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37376" y="5239512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665976" y="5120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DictionaryBruteForce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7424" y="507492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9290304" y="5239512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518904" y="5120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DoS-SYN_Flood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31520" y="5788152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960120" y="5669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MITM-ArpSpoofing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01568" y="56235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584448" y="5788152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813048" y="5669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Mirai-greeth_flood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54496" y="56235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37376" y="5788152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65976" y="5669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Recon-PortScan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07424" y="56235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9290304" y="5788152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9518904" y="5669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SqlInjection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1  ·  CLASS BALANCE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 that drives every later choice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traffic is the largest class at ~362K rows; SqlInjection is the smallest at ~5K. A naive accuracy-optimised model can simply ignore the rare attacks and still look good on paper.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84632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73152" cy="178308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69×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383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BenignTraffic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362,361 samples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SqlInjection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5,245 samples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603504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/home/claude/deck/assets/class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1920240"/>
            <a:ext cx="5852160" cy="3154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5349240"/>
            <a:ext cx="73152" cy="8229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73152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CONSEQUENCE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trained with class weighting, and model selection is based on macro F1 — not accuracy.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Seven-step IDS pipeline — from raw CSVs to live monitoring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35128" y="1965960"/>
            <a:ext cx="274320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35128" y="1965960"/>
            <a:ext cx="73152" cy="1828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36296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6296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validate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6296" y="3154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8 CSVs, check schema &amp; duplicates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208" y="1965960"/>
            <a:ext cx="274320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61208" y="1965960"/>
            <a:ext cx="73152" cy="1828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62376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62376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62376" y="3154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stratified on label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74320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87288" y="1965960"/>
            <a:ext cx="73152" cy="1828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88456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88456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8456" y="3154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+ scale on train only (no leakage)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13368" y="1965960"/>
            <a:ext cx="274320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113368" y="1965960"/>
            <a:ext cx="73152" cy="1828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314536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14536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LogReg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14536" y="3154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anchor for comparison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98168" y="4114800"/>
            <a:ext cx="274320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798168" y="4114800"/>
            <a:ext cx="73152" cy="1828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999336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999336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99336" y="5303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HGB, PyTorch MLP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24248" y="4114800"/>
            <a:ext cx="274320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24248" y="4114800"/>
            <a:ext cx="73152" cy="1828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925416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25416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API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25416" y="5303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streaming micro-batches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50328" y="4114800"/>
            <a:ext cx="2743200" cy="1828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650328" y="4114800"/>
            <a:ext cx="73152" cy="18288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851496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851496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drift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51496" y="5303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class mix, alert rate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2  ·  PREPROCESSING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preparation, fit once, reused at inference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per-class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968496" cy="8229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26440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9359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759,529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17136" y="2331720"/>
            <a:ext cx="850392" cy="8229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17136" y="326440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17136" y="359359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162,758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67528" y="2331720"/>
            <a:ext cx="850392" cy="8229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67528" y="326440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359359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162,760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66928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3152" cy="20116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by construction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∞ with NaN before splitting (structural, no stats)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chunks per class — adjacent flows stay together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 + scaler — fit on train, transform val/test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artifacts saved as joblib for byte-exact inference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82880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8122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ARTIFACTS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by the live API so inference matches training byte-for-byte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3063240"/>
            <a:ext cx="4800600" cy="594360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903720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imputer.joblib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imputation, fit on train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3776472"/>
            <a:ext cx="4800600" cy="594360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90372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scaler.joblib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4096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fit on train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4489704"/>
            <a:ext cx="4800600" cy="594360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903720" y="4553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label_encoder.joblib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48097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8-class index ↔ name mapping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5202936"/>
            <a:ext cx="4800600" cy="594360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903720" y="5266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feature_names.json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55229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order for incoming JSON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3  · 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classifiers, compared on macro F1 &amp; benign FPR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2560" y="1920240"/>
            <a:ext cx="2743200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2560" y="1920240"/>
            <a:ext cx="73152" cy="41148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63728" y="2103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94A3B8">
              <a:alpha val="20000"/>
            </a:srgbClr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63728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3728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3728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class-balanced, 1,000 iterations. Anchors the comparison.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3728" y="5029200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5168" y="50566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class_weight='balanced'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728" y="5413248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5168" y="54406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max_iter=1000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0352" y="1920240"/>
            <a:ext cx="2743200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70352" y="1920240"/>
            <a:ext cx="73152" cy="41148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71520" y="2103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4ADE80">
              <a:alpha val="20000"/>
            </a:srgbClr>
          </a:solidFill>
          <a:ln w="952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152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152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71520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class-balanced. Strong default for tabular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1520" y="5029200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562960" y="50566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n_estimators=200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1520" y="5413248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562960" y="54406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class_weight='balanced'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8144" y="1920240"/>
            <a:ext cx="2743200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178144" y="1920240"/>
            <a:ext cx="73152" cy="41148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379312" y="2103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FBBF24">
              <a:alpha val="20000"/>
            </a:srgbClr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379312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79312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79312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with per-sample weights for class balance.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79312" y="5029200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70752" y="50566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max_iter=100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79312" y="5413248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470752" y="54406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lr=0.1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85936" y="1920240"/>
            <a:ext cx="2743200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9085936" y="1920240"/>
            <a:ext cx="73152" cy="41148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9287104" y="2103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9287104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287104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287104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(128, 64), ReLU, Adam. Early stopping on a carved-out split.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287104" y="5029200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9378544" y="50566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hidden=(128,64)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87104" y="5413248"/>
            <a:ext cx="2331720" cy="292608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9378544" y="54406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patience=5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217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trained with class weighting; selection based on macro F1 on a held-out validation set.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3  ·  VALIDATION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both F1 and benign FPR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0" cy="4343400"/>
          </a:xfrm>
          <a:prstGeom prst="roundRect">
            <a:avLst>
              <a:gd name="adj" fmla="val 168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F1 (↑)   vs   BENIGN FPR (↓)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2423160"/>
          <a:ext cx="61264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874520"/>
            <a:ext cx="4480560" cy="4343400"/>
          </a:xfrm>
          <a:prstGeom prst="roundRect">
            <a:avLst>
              <a:gd name="adj" fmla="val 168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40664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METRICS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468880"/>
          <a:ext cx="420624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0.026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(PyTorch)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0.772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0.659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0.685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0.532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60920" y="5303520"/>
            <a:ext cx="73152" cy="7315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7498080" y="5303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498080" y="55321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leads on F1 and is the only model with ≲3% benign FPR.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3  ·  HELD-OUT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final numbers on the untouched test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8008" y="18745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92328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91.6%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92328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2768" y="18745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87088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87088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7528" y="18745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381848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381848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FALSE-POSITIVE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8008" y="4160520"/>
            <a:ext cx="3566160" cy="18745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18008" y="4160520"/>
            <a:ext cx="73152" cy="18745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46608" y="4343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floods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6608" y="48006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/ DoS / Mirai all ≥ 0.999 F1 — the model nails high-rate attacks.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2768" y="4160520"/>
            <a:ext cx="3566160" cy="18745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312768" y="4160520"/>
            <a:ext cx="73152" cy="18745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41368" y="4343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on benign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41368" y="48006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benign recall with only 2.2% false positives — usable for alert routing.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07528" y="4160520"/>
            <a:ext cx="3566160" cy="18745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107528" y="4160520"/>
            <a:ext cx="73152" cy="18745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336128" y="4343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 rare attacks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6128" y="48006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SqlInjection recall is only 8% — the minority classes remain an open problem.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3  ·  PER-CLASS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Random Forest hits — and where it misses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53796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deck/assets/cm_test_no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057400"/>
            <a:ext cx="62636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DIAGONAL READING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52360" y="2331720"/>
            <a:ext cx="4160520" cy="402336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7452360" y="2331720"/>
            <a:ext cx="54864" cy="402336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589520" y="2386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DDoS-ICMP_Flood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378440" y="2386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2807208"/>
            <a:ext cx="41605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7452360" y="2807208"/>
            <a:ext cx="54864" cy="402336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7589520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DoS-SYN_Flood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378440" y="28620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52360" y="3282696"/>
            <a:ext cx="4160520" cy="402336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7452360" y="3282696"/>
            <a:ext cx="54864" cy="402336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589520" y="3337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Mirai-greeth_flood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378440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452360" y="3758184"/>
            <a:ext cx="41605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7452360" y="3758184"/>
            <a:ext cx="54864" cy="402336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7589520" y="3813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BenignTraffic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378440" y="3813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452360" y="4233672"/>
            <a:ext cx="4160520" cy="402336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7452360" y="4233672"/>
            <a:ext cx="54864" cy="40233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7589520" y="42885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MITM-ArpSpoofing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378440" y="42885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452360" y="4709160"/>
            <a:ext cx="41605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7452360" y="4709160"/>
            <a:ext cx="54864" cy="40233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7589520" y="4764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DictionaryBruteForce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378440" y="4764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452360" y="5184648"/>
            <a:ext cx="4160520" cy="402336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7452360" y="5184648"/>
            <a:ext cx="54864" cy="40233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7589520" y="52395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Recon-PortScan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378440" y="5239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0.41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452360" y="5660136"/>
            <a:ext cx="41605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7452360" y="5660136"/>
            <a:ext cx="54864" cy="402336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7589520" y="5715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SqlInjection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378440" y="5715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attack classes collapse into BenignTraffic — the direction we'd target with resampling or threshold tuning next.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4  · 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model, wrapped as a live FastAPI service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66928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3152" cy="7498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feature JSON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044952"/>
            <a:ext cx="182880" cy="182880"/>
          </a:xfrm>
          <a:prstGeom prst="downArrow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566928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73152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imputer + scaler reused verbatim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995928"/>
            <a:ext cx="182880" cy="182880"/>
          </a:xfrm>
          <a:prstGeom prst="downArrow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566928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73152" cy="74980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085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→ class + probabilities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4946904"/>
            <a:ext cx="182880" cy="182880"/>
          </a:xfrm>
          <a:prstGeom prst="downArrow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48640" y="5138928"/>
            <a:ext cx="566928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48640" y="5138928"/>
            <a:ext cx="73152" cy="74980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77240" y="5248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559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back · line written to predictions.jsonl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18288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122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423160"/>
            <a:ext cx="4800600" cy="621792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903720" y="256032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38BDF8">
              <a:alpha val="20000"/>
            </a:srgbClr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903720" y="25786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3524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2770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info, feature count, class list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3172968"/>
            <a:ext cx="4800600" cy="621792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903720" y="331012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FBBF24">
              <a:alpha val="20000"/>
            </a:srgbClr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903720" y="33284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3524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3524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flow record → class + probabilities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3922776"/>
            <a:ext cx="4800600" cy="621792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903720" y="405993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FBBF24">
              <a:alpha val="20000"/>
            </a:srgbClr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903720" y="4078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3524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/predict/batch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35240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for streaming simulation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4672584"/>
            <a:ext cx="4800600" cy="621792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903720" y="480974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38BDF8">
              <a:alpha val="20000"/>
            </a:srgbClr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90372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35240" y="4745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/monitoring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35240" y="5020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drift &amp; alert snapshot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5422392"/>
            <a:ext cx="4800600" cy="621792"/>
          </a:xfrm>
          <a:prstGeom prst="rect">
            <a:avLst/>
          </a:prstGeom>
          <a:solidFill>
            <a:srgbClr val="243447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903720" y="5559552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38BDF8">
              <a:alpha val="20000"/>
            </a:srgbClr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903720" y="5577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35240" y="5495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35240" y="5769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HTML dashboard polling /monitoring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4  ·  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drift signals over a rolling window of 500 predictions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3688" y="1920240"/>
            <a:ext cx="3749040" cy="4023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43688" y="1920240"/>
            <a:ext cx="73152" cy="40233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2288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2288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2288" y="3291840"/>
            <a:ext cx="32918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18008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|μ_window − μ_train| / σ_train  &gt;  2σ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2288" y="397764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standardised mean shift against the training distribution. Any feature whose window mean is &gt;2σ off its training mean is flagged.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21328" y="1920240"/>
            <a:ext cx="3749040" cy="4023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221328" y="1920240"/>
            <a:ext cx="73152" cy="40233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449928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49928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class-mix drift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449928" y="3291840"/>
            <a:ext cx="32918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95648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|share_window − share_train|  &gt;  0.10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49928" y="397764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predicted-class histogram vs training class shares. Flagged when any class share shifts by more than 10 percentage points.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8968" y="1920240"/>
            <a:ext cx="3749040" cy="4023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198968" y="1920240"/>
            <a:ext cx="73152" cy="402336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427568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27568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Alert-rate spike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427568" y="3291840"/>
            <a:ext cx="32918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473288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rate_recent  /  rate_baseline  &gt;  2.0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27568" y="397764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non-benign predictions in the rolling window relative to the training baseline. Flagged when recent alert rate more than doubles.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217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/monitoring call writes a compact JSON line to drift.jsonl for post-hoc analysis.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 4  · 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reacts to streamed micro-batches in real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0828" y="1920240"/>
            <a:ext cx="3794760" cy="4023360"/>
          </a:xfrm>
          <a:prstGeom prst="roundRect">
            <a:avLst>
              <a:gd name="adj" fmla="val 144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deck/assets/dash_benig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7988" y="2057400"/>
            <a:ext cx="352044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9428" y="4526280"/>
            <a:ext cx="33375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49428" y="4663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BenignTraffic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9428" y="5029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49428" y="5623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~ baseline, no class drift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98468" y="1920240"/>
            <a:ext cx="3794760" cy="4023360"/>
          </a:xfrm>
          <a:prstGeom prst="roundRect">
            <a:avLst>
              <a:gd name="adj" fmla="val 144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deck/assets/dash_mit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35628" y="2057400"/>
            <a:ext cx="3520440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27068" y="4526280"/>
            <a:ext cx="33375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4427068" y="4663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MITM-ArpSpoofing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27068" y="5029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48.3%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4427068" y="5623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mix pivots to MITM, alerts spike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76108" y="1920240"/>
            <a:ext cx="3794760" cy="4023360"/>
          </a:xfrm>
          <a:prstGeom prst="roundRect">
            <a:avLst>
              <a:gd name="adj" fmla="val 144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/home/claude/deck/assets/dash_sy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13268" y="2057400"/>
            <a:ext cx="3520440" cy="2331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404708" y="4526280"/>
            <a:ext cx="33375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4"/>
          <p:cNvSpPr/>
          <p:nvPr/>
        </p:nvSpPr>
        <p:spPr>
          <a:xfrm>
            <a:off x="8404708" y="4663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DoS-SYN_Flood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04708" y="5029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50.7%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8404708" y="5623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SYN-flood dominates, syn_count drifts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217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flips from OK → DRIFT as traffic shifts, with offending features and class shares visible live.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  ·  CICIoT2023  ·  2026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what's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48640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3152" cy="20116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WORKED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— CSV → API → live dashboard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91.6% test accuracy, 2.2% benign FPR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preprocessing, saved &amp; reused at inference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drift signals catch real distribution shifts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286000"/>
            <a:ext cx="521208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355080" y="2286000"/>
            <a:ext cx="73152" cy="201168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LIMITATIONS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chunks ≠ true time-based split (no timestamps available)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 or resampling (e.g. SMOTE)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SqlInjection recall is only 8% — needs extra 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state is in-memory only; resets on restart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092708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73152" cy="14173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686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splits  ·  richer drift tests (KS, PSI, χ²)  ·  threshold tuning for rare classes  ·  persistent monitor state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Azzi  ·  Maria Bouchi  ·  Lynn Mechreck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1362</Words>
  <Application>Microsoft Macintosh PowerPoint</Application>
  <PresentationFormat>Widescreen</PresentationFormat>
  <Paragraphs>288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Intrusion Detection</dc:title>
  <dc:subject>PptxGenJS Presentation</dc:subject>
  <dc:creator>Jose Azzi, Maria Bouchi, Lynn Mechreck</dc:creator>
  <cp:lastModifiedBy>Jose Azzi</cp:lastModifiedBy>
  <cp:revision>2</cp:revision>
  <dcterms:created xsi:type="dcterms:W3CDTF">2026-04-25T12:31:13Z</dcterms:created>
  <dcterms:modified xsi:type="dcterms:W3CDTF">2026-04-25T12:53:56Z</dcterms:modified>
</cp:coreProperties>
</file>